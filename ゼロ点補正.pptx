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FA70B6-26BF-39C3-A8B7-7BCC1692C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9824CC-F3C5-8DA4-2A7D-96202A8A9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3725BC-3AD9-9C11-BE0C-4AF3E6AA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CD7373-F074-9AD8-18B6-E56CB724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BB2E9-FDA6-4F85-5216-ADB61D21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0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797E0-80A8-DCD7-D84C-7FEDFC5C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3E854A-C238-3507-E8DB-8E3E81447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9696C7-6EA3-862C-D8B0-05F1426E0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89DB68-75F2-0CCE-9A12-61BEBCFD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93217-71C7-019C-9BE0-6619E82C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51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51B25-8CF5-7BB2-FA8B-9B655069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221232-757B-42D5-D776-5CCAAF1AE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B46944-2D64-AF71-DB3F-58D31C0F5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4E5C4C-E4F0-F276-3CE9-2BF1483B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587EFB-3B38-E592-6FE0-C18DB1E7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06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F1E626-7799-AC9C-9701-CB84E666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88946A-1A12-178A-CA5F-55000A271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E5803F-45B7-AA4A-5C7B-4B56E6853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8D1DB8-1F97-3B31-6F1E-8FF1C30F4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7C762F-349B-17DA-9431-E6A6190E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2E5DDA-AC92-3B64-4637-B3CB8AEC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226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E1E38B-3774-8839-4F9B-EF242473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24EEBF-809A-4530-B52B-55E46F6D1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7E640C-9F96-36D4-1C9F-A89BEC289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A324DEC-B641-2634-66AC-DBF711E7A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B5B237-28BB-61E4-5435-A2CC618F4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73A8FE5-267F-D3AE-7ACE-A9BC26FC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5EF327-09E5-EA94-A8B6-530006AC8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B3317EE-3528-B156-FDB3-D9BDE5E0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80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91778-C8F3-BB1E-A814-0E5EC07C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067306-CB1E-18A4-EFEB-79AEB47FE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C914E3C-A476-98D2-4092-4E0620BC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AEBC9B-B596-531F-B358-DD29280A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159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1ABC7C0-B8F9-C198-4A0F-4D52869A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420193-1000-445A-1EFD-B8E39BA9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A3D74-3714-6CF8-2EC1-E3FAA7D2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44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8E9BA5-6CF0-3B5D-6B2B-FD91B5F4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2B19AF-F4B7-F678-1C26-866CEA5E7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418B75-4F31-F143-3B07-C947BFE3B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D8B71A-C062-51BF-15A8-2E133A39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88DD71-D09A-4312-4E78-901C0872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FFBC08-B311-388A-FC2F-EAA3F10A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85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E94E57-2ABC-2CF6-DC83-18AA941F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901F0D7-C67C-B1A6-E92A-FC2377C6B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7338D14-9159-116A-3F14-23747EACC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6A9E43-253E-BE75-97E1-9622FAD09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50CB2A-D1A9-B5B4-7062-35CB740CA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9AA97F-6F09-6CD4-7870-BD069656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81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F17FAF-BD64-4531-D05F-CCC6E94EB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2AE1531-835B-B7CD-16D1-50FADC8A8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E4A533-2CD2-899A-3958-987D9DBF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E99E49-31F2-92E8-0AF0-6CD163A7E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1238F9-96EA-552B-6D01-253A12EF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999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DFF51C8-3497-8097-9CF9-DEEFECB52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F8B646-BE9E-B1F6-9F40-842ED2457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FA4A2C-E63A-B3CF-EE38-BF0EDC0C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B925A0-7CB9-A42F-9F78-5A3B9EF7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949732-7C3B-1AB9-B292-2BE6262F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33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4FE5345-1ADE-8B22-6F26-B6B0F25A3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D401BA-C750-B75E-D455-1D2647753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7E17BB-2BAA-F2F5-5FE5-5F9B32EF4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FF674-4EA7-C041-9058-935C893F3FD7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EE0FAC-E174-EC86-C0C0-4BFD00F87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4C71CA-0271-1706-DC14-39368E3F8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1FAF7-FD6A-1C41-A141-05A225F146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7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EFAB8F-6B94-C66F-8F3E-51EF189B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7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3600"/>
              <a:t>機械等級を天文学的等級に変換するための</a:t>
            </a:r>
            <a:br>
              <a:rPr kumimoji="1" lang="en-US" altLang="ja-JP" sz="3600" dirty="0"/>
            </a:br>
            <a:r>
              <a:rPr kumimoji="1" lang="ja-JP" altLang="en-US" sz="3600"/>
              <a:t>ゼロ点補正手順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0DCD71-ED8C-4BA0-4DB1-07A1FB443B0B}"/>
              </a:ext>
            </a:extLst>
          </p:cNvPr>
          <p:cNvSpPr txBox="1"/>
          <p:nvPr/>
        </p:nvSpPr>
        <p:spPr>
          <a:xfrm>
            <a:off x="782886" y="1859340"/>
            <a:ext cx="102897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800"/>
              <a:t>機械等級：測定を行なった</a:t>
            </a:r>
            <a:r>
              <a:rPr lang="ja-JP" altLang="en-US" sz="2800"/>
              <a:t>機械特有の星の明るさ</a:t>
            </a:r>
            <a:r>
              <a:rPr lang="en-US" altLang="ja-JP" sz="2800" dirty="0"/>
              <a:t>(</a:t>
            </a:r>
            <a:r>
              <a:rPr lang="ja-JP" altLang="en-US" sz="2800"/>
              <a:t>等級</a:t>
            </a:r>
            <a:r>
              <a:rPr lang="en-US" altLang="ja-JP" sz="2800" dirty="0"/>
              <a:t>)</a:t>
            </a:r>
            <a:r>
              <a:rPr lang="ja-JP" altLang="en-US" sz="2800"/>
              <a:t>のこと。ここでは、岡山大学</a:t>
            </a:r>
            <a:r>
              <a:rPr lang="en-US" altLang="ja-JP" sz="2800" dirty="0"/>
              <a:t>35cm</a:t>
            </a:r>
            <a:r>
              <a:rPr lang="ja-JP" altLang="en-US" sz="2800"/>
              <a:t>望遠鏡で取得した画像を</a:t>
            </a:r>
            <a:r>
              <a:rPr lang="en-US" altLang="ja-JP" sz="2800" dirty="0" err="1"/>
              <a:t>AstroImageJ</a:t>
            </a:r>
            <a:r>
              <a:rPr lang="ja-JP" altLang="en-US" sz="2800"/>
              <a:t>で測定した時の等級の値</a:t>
            </a:r>
            <a:endParaRPr lang="en-US" altLang="ja-JP" sz="2800" dirty="0"/>
          </a:p>
          <a:p>
            <a:endParaRPr kumimoji="1" lang="ja-JP" altLang="en-US" sz="24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CE73F1-C7C3-57B1-0F47-348A3B396F4C}"/>
              </a:ext>
            </a:extLst>
          </p:cNvPr>
          <p:cNvSpPr txBox="1"/>
          <p:nvPr/>
        </p:nvSpPr>
        <p:spPr>
          <a:xfrm>
            <a:off x="673177" y="4180902"/>
            <a:ext cx="10399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/>
              <a:t>天文学的等級</a:t>
            </a:r>
            <a:r>
              <a:rPr kumimoji="1" lang="ja-JP" altLang="en-US" sz="2800"/>
              <a:t>：本来の星の明るさ。ここでは</a:t>
            </a:r>
            <a:r>
              <a:rPr kumimoji="1" lang="en-US" altLang="ja-JP" sz="2800" dirty="0"/>
              <a:t>Anupama et al. (1994)</a:t>
            </a:r>
            <a:r>
              <a:rPr kumimoji="1" lang="ja-JP" altLang="en-US" sz="2800"/>
              <a:t>の論文での値とする。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91338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1751A6-A1BD-4748-C4FA-9969D233A7AD}"/>
              </a:ext>
            </a:extLst>
          </p:cNvPr>
          <p:cNvSpPr txBox="1"/>
          <p:nvPr/>
        </p:nvSpPr>
        <p:spPr>
          <a:xfrm>
            <a:off x="573336" y="3241185"/>
            <a:ext cx="1043266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800"/>
              <a:t>機械等級</a:t>
            </a:r>
            <a:r>
              <a:rPr kumimoji="1" lang="en-US" altLang="ja-JP" sz="2800" dirty="0"/>
              <a:t>mi(N)</a:t>
            </a:r>
            <a:r>
              <a:rPr kumimoji="1" lang="ja-JP" altLang="en-US" sz="2800"/>
              <a:t>を求める</a:t>
            </a:r>
            <a:r>
              <a:rPr lang="en-US" altLang="ja-JP" sz="2800" dirty="0"/>
              <a:t>. (mi</a:t>
            </a:r>
            <a:r>
              <a:rPr lang="ja-JP" altLang="en-US" sz="2800"/>
              <a:t>は</a:t>
            </a:r>
            <a:r>
              <a:rPr lang="en-US" altLang="ja-JP" sz="2800" dirty="0"/>
              <a:t>magnitude instrument</a:t>
            </a:r>
            <a:r>
              <a:rPr lang="ja-JP" altLang="en-US" sz="2800"/>
              <a:t>の意味</a:t>
            </a:r>
            <a:r>
              <a:rPr lang="en-US" altLang="ja-JP" sz="2800" dirty="0"/>
              <a:t>)</a:t>
            </a:r>
            <a:endParaRPr kumimoji="1" lang="en-US" altLang="ja-JP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800" dirty="0" err="1"/>
              <a:t>AstroImageJ</a:t>
            </a:r>
            <a:r>
              <a:rPr kumimoji="1" lang="ja-JP" altLang="en-US" sz="2800"/>
              <a:t>で測定した星の明るさの測定値を</a:t>
            </a:r>
            <a:r>
              <a:rPr kumimoji="1" lang="en-US" altLang="ja-JP" sz="2800" dirty="0"/>
              <a:t>N</a:t>
            </a:r>
            <a:r>
              <a:rPr kumimoji="1" lang="ja-JP" altLang="en-US" sz="2800"/>
              <a:t>とする。</a:t>
            </a:r>
            <a:endParaRPr kumimoji="1" lang="en-US" altLang="ja-JP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800"/>
              <a:t>機械等級</a:t>
            </a:r>
            <a:r>
              <a:rPr kumimoji="1" lang="en-US" altLang="ja-JP" sz="2800" dirty="0"/>
              <a:t>m</a:t>
            </a:r>
            <a:r>
              <a:rPr lang="en-US" altLang="ja-JP" sz="2800" dirty="0"/>
              <a:t>i(N) = -2.5 log(N)   (</a:t>
            </a:r>
            <a:r>
              <a:rPr lang="ja-JP" altLang="en-US" sz="2800"/>
              <a:t>ここではこのように定義する</a:t>
            </a:r>
            <a:r>
              <a:rPr lang="en-US" altLang="ja-JP" sz="28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800" dirty="0"/>
              <a:t>mi(N)</a:t>
            </a:r>
            <a:r>
              <a:rPr kumimoji="1" lang="ja-JP" altLang="en-US" sz="2800"/>
              <a:t>に補正値</a:t>
            </a:r>
            <a:r>
              <a:rPr kumimoji="1" lang="en-US" altLang="ja-JP" sz="2800" dirty="0"/>
              <a:t>C0</a:t>
            </a:r>
            <a:r>
              <a:rPr kumimoji="1" lang="ja-JP" altLang="en-US" sz="2800"/>
              <a:t>を加えると天文学的等級</a:t>
            </a:r>
            <a:r>
              <a:rPr lang="en-US" altLang="ja-JP" sz="2800" dirty="0"/>
              <a:t>M</a:t>
            </a:r>
            <a:r>
              <a:rPr lang="ja-JP" altLang="en-US" sz="2800"/>
              <a:t>になる。つまり</a:t>
            </a:r>
            <a:endParaRPr lang="en-US" altLang="ja-JP" sz="2800" dirty="0"/>
          </a:p>
          <a:p>
            <a:r>
              <a:rPr lang="en-US" altLang="ja-JP" sz="2800" dirty="0"/>
              <a:t>   M = mi(N) + C0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800" dirty="0"/>
              <a:t>M</a:t>
            </a:r>
            <a:r>
              <a:rPr lang="ja-JP" altLang="en-US" sz="2800"/>
              <a:t>の値は次のページの論文の見方を参考にする。</a:t>
            </a:r>
            <a:endParaRPr lang="en-US" altLang="ja-JP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5E84A6-A89A-545A-88DF-5AD43EC40972}"/>
              </a:ext>
            </a:extLst>
          </p:cNvPr>
          <p:cNvSpPr txBox="1"/>
          <p:nvPr/>
        </p:nvSpPr>
        <p:spPr>
          <a:xfrm>
            <a:off x="1682826" y="790848"/>
            <a:ext cx="8805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/>
              <a:t>機械等級から天文学的等級へ補正する仕組み</a:t>
            </a:r>
            <a:endParaRPr lang="en-US" altLang="ja-JP" sz="32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3DA9485-E1F7-AD71-347A-33EB59070465}"/>
              </a:ext>
            </a:extLst>
          </p:cNvPr>
          <p:cNvSpPr txBox="1"/>
          <p:nvPr/>
        </p:nvSpPr>
        <p:spPr>
          <a:xfrm>
            <a:off x="573336" y="1762954"/>
            <a:ext cx="10215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/>
              <a:t>補正には補正値</a:t>
            </a:r>
            <a:r>
              <a:rPr lang="en-US" altLang="ja-JP" sz="2400" dirty="0"/>
              <a:t>C0</a:t>
            </a:r>
            <a:r>
              <a:rPr lang="ja-JP" altLang="en-US" sz="2400"/>
              <a:t>が必要である。</a:t>
            </a:r>
            <a:r>
              <a:rPr lang="en-US" altLang="ja-JP" sz="2400" dirty="0"/>
              <a:t>C0</a:t>
            </a:r>
            <a:r>
              <a:rPr lang="ja-JP" altLang="en-US" sz="2400"/>
              <a:t>の導出に、この実験限定の以下の簡易的な手法を用いる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225866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52B1D6-04BA-5EB7-4F33-FAF810F4DDED}"/>
              </a:ext>
            </a:extLst>
          </p:cNvPr>
          <p:cNvSpPr txBox="1"/>
          <p:nvPr/>
        </p:nvSpPr>
        <p:spPr>
          <a:xfrm>
            <a:off x="430117" y="1886082"/>
            <a:ext cx="109062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/>
              <a:t>論文に記載のある星と実際の画像を見比べて、どの星がどの明るさ</a:t>
            </a:r>
            <a:r>
              <a:rPr kumimoji="1" lang="en-US" altLang="ja-JP" sz="2400" dirty="0"/>
              <a:t>M</a:t>
            </a:r>
            <a:r>
              <a:rPr kumimoji="1" lang="ja-JP" altLang="en-US" sz="2400"/>
              <a:t>であるのか論文から読み取る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C0</a:t>
            </a:r>
            <a:r>
              <a:rPr lang="ja-JP" altLang="en-US" sz="2400"/>
              <a:t>を求める。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/>
              <a:t>同じ作業を</a:t>
            </a:r>
            <a:r>
              <a:rPr kumimoji="1" lang="en-US" altLang="ja-JP" sz="2400" dirty="0"/>
              <a:t>10</a:t>
            </a:r>
            <a:r>
              <a:rPr kumimoji="1" lang="ja-JP" altLang="en-US" sz="2400"/>
              <a:t>個ぐらいの星に対して行う。そうして求めた</a:t>
            </a:r>
            <a:r>
              <a:rPr kumimoji="1" lang="en-US" altLang="ja-JP" sz="2400" dirty="0"/>
              <a:t>10</a:t>
            </a:r>
            <a:r>
              <a:rPr kumimoji="1" lang="ja-JP" altLang="en-US" sz="2400"/>
              <a:t>個の</a:t>
            </a:r>
            <a:r>
              <a:rPr kumimoji="1" lang="en-US" altLang="ja-JP" sz="2400" dirty="0"/>
              <a:t>C0</a:t>
            </a:r>
            <a:r>
              <a:rPr kumimoji="1" lang="ja-JP" altLang="en-US" sz="2400"/>
              <a:t>の平均を取る</a:t>
            </a:r>
            <a:r>
              <a:rPr lang="ja-JP" altLang="en-US" sz="2400"/>
              <a:t>。これを</a:t>
            </a:r>
            <a:r>
              <a:rPr kumimoji="1" lang="en-US" altLang="ja-JP" sz="2400" dirty="0"/>
              <a:t>C0ave</a:t>
            </a:r>
            <a:r>
              <a:rPr lang="ja-JP" altLang="en-US" sz="2400"/>
              <a:t>と呼ぶ。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/>
              <a:t>論文に記載のない暗い星もきっと、ゼロ点補正値は</a:t>
            </a:r>
            <a:r>
              <a:rPr kumimoji="1" lang="en-US" altLang="ja-JP" sz="2400" dirty="0"/>
              <a:t>C0ave</a:t>
            </a:r>
            <a:r>
              <a:rPr kumimoji="1" lang="ja-JP" altLang="en-US" sz="2400"/>
              <a:t>であるとみなす。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/>
              <a:t>論文に記載のない数百以上の暗い星に対して、測光を行い機械等級を求める。ゼロ点補正値は</a:t>
            </a:r>
            <a:r>
              <a:rPr lang="en-US" altLang="ja-JP" sz="2400" dirty="0"/>
              <a:t>C0ave</a:t>
            </a:r>
            <a:r>
              <a:rPr lang="ja-JP" altLang="en-US" sz="2400"/>
              <a:t>として天文学的等級に変換する。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94356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328</Words>
  <Application>Microsoft Macintosh PowerPoint</Application>
  <PresentationFormat>ワイド画面</PresentationFormat>
  <Paragraphs>16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機械等級を天文学的等級に変換するための ゼロ点補正手順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Seitaro Urakawa</dc:creator>
  <cp:lastModifiedBy>Seitaro Urakawa</cp:lastModifiedBy>
  <cp:revision>4</cp:revision>
  <dcterms:created xsi:type="dcterms:W3CDTF">2026-09-18T05:49:55Z</dcterms:created>
  <dcterms:modified xsi:type="dcterms:W3CDTF">2026-09-18T06:41:30Z</dcterms:modified>
</cp:coreProperties>
</file>